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2" r:id="rId4"/>
    <p:sldId id="260" r:id="rId5"/>
    <p:sldId id="269" r:id="rId6"/>
    <p:sldId id="264" r:id="rId7"/>
    <p:sldId id="270" r:id="rId8"/>
    <p:sldId id="272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9ED75-8E7A-4FD0-AFC3-25491C154FA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76F7E-F275-4910-84CB-FC032DCDE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1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4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8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0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6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7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6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5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9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3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9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74E6B-DB2E-46F8-9599-B53BB67D62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0343-343F-443D-B55C-AED42B455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5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9665" y="2795337"/>
            <a:ext cx="718698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/>
              <a:t>AERESCUE: Assistive Emergency Rescue and Support System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6692" y="5720566"/>
            <a:ext cx="5295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PROPONENT(S): Elijah Juris Evangelista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COACH: Rhys Kelsey Zabdiel </a:t>
            </a:r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Payot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16976" y="624160"/>
            <a:ext cx="547297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Ubay National Science High School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3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26F799-06EE-43BC-B4C1-45BD0F461422}"/>
              </a:ext>
            </a:extLst>
          </p:cNvPr>
          <p:cNvSpPr txBox="1"/>
          <p:nvPr/>
        </p:nvSpPr>
        <p:spPr>
          <a:xfrm>
            <a:off x="884582" y="376786"/>
            <a:ext cx="709485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800" b="1" dirty="0">
                <a:latin typeface="Bookman Old Style" panose="02050604050505020204" pitchFamily="18" charset="0"/>
              </a:rPr>
              <a:t>Introduction</a:t>
            </a:r>
          </a:p>
          <a:p>
            <a:pPr algn="just"/>
            <a:endParaRPr lang="en-PH" sz="2800" dirty="0">
              <a:latin typeface="Bookman Old Style" panose="020506040505050202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Drowning remains a major public-health concern.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Rescue operations can be delayed by distance and environmental conditions, making accurate target localization essential.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Previous studies show the potential of drones in rescue support.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Limited research integrates target localization, object tracking, distance estimation, and directional guidance into one shore-based rescue-support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lvl="0"/>
            <a:endParaRPr lang="en-US" sz="2800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4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E57A0C70-C6FA-46E8-A462-F146D6CAA9AA}"/>
              </a:ext>
            </a:extLst>
          </p:cNvPr>
          <p:cNvSpPr txBox="1">
            <a:spLocks/>
          </p:cNvSpPr>
          <p:nvPr/>
        </p:nvSpPr>
        <p:spPr>
          <a:xfrm>
            <a:off x="582931" y="1377950"/>
            <a:ext cx="7269480" cy="49278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The study aims to determine whether a dual-camera computer-vision system can accurately:</a:t>
            </a:r>
          </a:p>
          <a:p>
            <a:pPr marL="0" indent="0" algn="just">
              <a:buNone/>
            </a:pPr>
            <a:endParaRPr lang="en-US" sz="2200" dirty="0">
              <a:latin typeface="Bookman Old Style" panose="02050604050505020204" pitchFamily="18" charset="0"/>
            </a:endParaRPr>
          </a:p>
          <a:p>
            <a:pPr lvl="0"/>
            <a:r>
              <a:rPr lang="en-US" sz="2400" dirty="0">
                <a:latin typeface="Bookman Old Style" panose="02050604050505020204" pitchFamily="18" charset="0"/>
              </a:rPr>
              <a:t>Localize a selected rescue target </a:t>
            </a:r>
          </a:p>
          <a:p>
            <a:pPr lvl="0"/>
            <a:r>
              <a:rPr lang="en-US" sz="2400" dirty="0">
                <a:latin typeface="Bookman Old Style" panose="02050604050505020204" pitchFamily="18" charset="0"/>
              </a:rPr>
              <a:t>Track a designated moving object </a:t>
            </a:r>
          </a:p>
          <a:p>
            <a:pPr lvl="0"/>
            <a:r>
              <a:rPr lang="en-US" sz="2400" dirty="0">
                <a:latin typeface="Bookman Old Style" panose="02050604050505020204" pitchFamily="18" charset="0"/>
              </a:rPr>
              <a:t>Estimate the relative distance between the target and moving object </a:t>
            </a:r>
          </a:p>
          <a:p>
            <a:pPr lvl="0"/>
            <a:r>
              <a:rPr lang="en-US" sz="2400" dirty="0">
                <a:latin typeface="Bookman Old Style" panose="02050604050505020204" pitchFamily="18" charset="0"/>
              </a:rPr>
              <a:t>Generate directional guidance based on their calculated alignment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5F2AAF-1BD4-4760-851E-AB42C777AD57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b="1" dirty="0">
                <a:latin typeface="Bookman Old Style" panose="02050604050505020204" pitchFamily="18" charset="0"/>
              </a:rPr>
              <a:t>Research Objectives</a:t>
            </a:r>
          </a:p>
        </p:txBody>
      </p:sp>
    </p:spTree>
    <p:extLst>
      <p:ext uri="{BB962C8B-B14F-4D97-AF65-F5344CB8AC3E}">
        <p14:creationId xmlns:p14="http://schemas.microsoft.com/office/powerpoint/2010/main" val="2288215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003216-7A64-FB8E-6EBC-991BA9DEC3F9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ookman Old Style" panose="02050604050505020204" pitchFamily="18" charset="0"/>
              </a:rPr>
              <a:t>System 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4C3283-62E4-65EF-8546-21CE087BD0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49" y="1527188"/>
            <a:ext cx="6960397" cy="418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8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0C2D-0A29-5391-D5D3-3C773643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9C5C66-F469-8479-B829-C5FB2F9D21D2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ookman Old Style" panose="02050604050505020204" pitchFamily="18" charset="0"/>
              </a:rPr>
              <a:t>Methods: Experimental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7CD69-A0A3-77B3-DB1E-A2761D985708}"/>
              </a:ext>
            </a:extLst>
          </p:cNvPr>
          <p:cNvSpPr txBox="1"/>
          <p:nvPr/>
        </p:nvSpPr>
        <p:spPr>
          <a:xfrm>
            <a:off x="1071832" y="1536174"/>
            <a:ext cx="60945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Target Localization:</a:t>
            </a:r>
            <a:r>
              <a:rPr lang="en-US" sz="2400" dirty="0">
                <a:latin typeface="Bookman Old Style" panose="02050604050505020204" pitchFamily="18" charset="0"/>
              </a:rPr>
              <a:t> 10 test points, 3 trials each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Moving-Object Tracking:</a:t>
            </a:r>
            <a:r>
              <a:rPr lang="en-US" sz="2400" dirty="0">
                <a:latin typeface="Bookman Old Style" panose="02050604050505020204" pitchFamily="18" charset="0"/>
              </a:rPr>
              <a:t> 5 trials along a fixed route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Reacquisition:</a:t>
            </a:r>
            <a:r>
              <a:rPr lang="en-US" sz="2400" dirty="0">
                <a:latin typeface="Bookman Old Style" panose="02050604050505020204" pitchFamily="18" charset="0"/>
              </a:rPr>
              <a:t> tracking-loss events recorded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Relative Distance:</a:t>
            </a:r>
            <a:r>
              <a:rPr lang="en-US" sz="2400" dirty="0">
                <a:latin typeface="Bookman Old Style" panose="02050604050505020204" pitchFamily="18" charset="0"/>
              </a:rPr>
              <a:t> 10 predetermined test points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Guidance Accuracy:</a:t>
            </a:r>
            <a:r>
              <a:rPr lang="en-US" sz="2400" dirty="0">
                <a:latin typeface="Bookman Old Style" panose="02050604050505020204" pitchFamily="18" charset="0"/>
              </a:rPr>
              <a:t> LEFT, RIGHT, FORWARD, STOP/HOLD </a:t>
            </a:r>
          </a:p>
        </p:txBody>
      </p:sp>
    </p:spTree>
    <p:extLst>
      <p:ext uri="{BB962C8B-B14F-4D97-AF65-F5344CB8AC3E}">
        <p14:creationId xmlns:p14="http://schemas.microsoft.com/office/powerpoint/2010/main" val="307392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7EB2EE0-1102-583E-9C92-C15AC419E3A6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latin typeface="Bookman Old Style" panose="02050604050505020204" pitchFamily="18" charset="0"/>
              </a:rPr>
              <a:t>R&amp;D: </a:t>
            </a:r>
            <a:r>
              <a:rPr lang="en-US" sz="2500" dirty="0">
                <a:latin typeface="Bookman Old Style" panose="02050604050505020204" pitchFamily="18" charset="0"/>
              </a:rPr>
              <a:t>Target-Localization Accuracy of AERESCUE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8054D9-D05F-8283-0231-4DEC7BC0C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39150"/>
              </p:ext>
            </p:extLst>
          </p:nvPr>
        </p:nvGraphicFramePr>
        <p:xfrm>
          <a:off x="929236" y="1025226"/>
          <a:ext cx="6834540" cy="523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6908">
                  <a:extLst>
                    <a:ext uri="{9D8B030D-6E8A-4147-A177-3AD203B41FA5}">
                      <a16:colId xmlns:a16="http://schemas.microsoft.com/office/drawing/2014/main" val="720562808"/>
                    </a:ext>
                  </a:extLst>
                </a:gridCol>
                <a:gridCol w="1366908">
                  <a:extLst>
                    <a:ext uri="{9D8B030D-6E8A-4147-A177-3AD203B41FA5}">
                      <a16:colId xmlns:a16="http://schemas.microsoft.com/office/drawing/2014/main" val="3090247632"/>
                    </a:ext>
                  </a:extLst>
                </a:gridCol>
                <a:gridCol w="1366908">
                  <a:extLst>
                    <a:ext uri="{9D8B030D-6E8A-4147-A177-3AD203B41FA5}">
                      <a16:colId xmlns:a16="http://schemas.microsoft.com/office/drawing/2014/main" val="3933245354"/>
                    </a:ext>
                  </a:extLst>
                </a:gridCol>
                <a:gridCol w="1366908">
                  <a:extLst>
                    <a:ext uri="{9D8B030D-6E8A-4147-A177-3AD203B41FA5}">
                      <a16:colId xmlns:a16="http://schemas.microsoft.com/office/drawing/2014/main" val="1104047160"/>
                    </a:ext>
                  </a:extLst>
                </a:gridCol>
                <a:gridCol w="1366908">
                  <a:extLst>
                    <a:ext uri="{9D8B030D-6E8A-4147-A177-3AD203B41FA5}">
                      <a16:colId xmlns:a16="http://schemas.microsoft.com/office/drawing/2014/main" val="953009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Test Point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Actual Distance (m)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Mean Estimated Distance  (m)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Mean Absolute Error (m)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Mean Percentage Error (%)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7467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T1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5.10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5.67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0.57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11.18%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89731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T2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11.18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11.47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0.29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2.59%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3917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T3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10.20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10.85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0.65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6.37%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8426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T4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15.81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15.65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0.17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1.08%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06718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T5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15.00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14.66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0.52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3.47%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3571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T6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15.30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15.47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0.42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2.75%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941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T7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20.88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20.70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0.28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1.34%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66185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T8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20.00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19.26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0.74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3.70%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34718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T9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20.22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18.44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1.78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8.80%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2476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T10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21.54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19.25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2.29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10.63%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3136539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08E357-7466-80C4-B38D-B9B346DD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418" y="956214"/>
            <a:ext cx="3982097" cy="233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8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0140-6EF6-DFA5-0B22-14A5C717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3DF5FE-517A-CB24-AF55-A400A67B1EE6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latin typeface="Bookman Old Style" panose="02050604050505020204" pitchFamily="18" charset="0"/>
              </a:rPr>
              <a:t>R&amp;D: </a:t>
            </a:r>
            <a:r>
              <a:rPr lang="en-US" sz="2500" dirty="0">
                <a:latin typeface="Bookman Old Style" panose="02050604050505020204" pitchFamily="18" charset="0"/>
              </a:rPr>
              <a:t>Moving-Object Tracking Performance</a:t>
            </a:r>
            <a:r>
              <a:rPr lang="en-US" sz="2500" b="1" dirty="0">
                <a:latin typeface="Bookman Old Style" panose="02050604050505020204" pitchFamily="18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48E804-39B4-D249-5B03-16C14A852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52194"/>
              </p:ext>
            </p:extLst>
          </p:nvPr>
        </p:nvGraphicFramePr>
        <p:xfrm>
          <a:off x="854014" y="1061868"/>
          <a:ext cx="4597880" cy="3632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9470">
                  <a:extLst>
                    <a:ext uri="{9D8B030D-6E8A-4147-A177-3AD203B41FA5}">
                      <a16:colId xmlns:a16="http://schemas.microsoft.com/office/drawing/2014/main" val="2971758991"/>
                    </a:ext>
                  </a:extLst>
                </a:gridCol>
                <a:gridCol w="1149470">
                  <a:extLst>
                    <a:ext uri="{9D8B030D-6E8A-4147-A177-3AD203B41FA5}">
                      <a16:colId xmlns:a16="http://schemas.microsoft.com/office/drawing/2014/main" val="3224563218"/>
                    </a:ext>
                  </a:extLst>
                </a:gridCol>
                <a:gridCol w="1149470">
                  <a:extLst>
                    <a:ext uri="{9D8B030D-6E8A-4147-A177-3AD203B41FA5}">
                      <a16:colId xmlns:a16="http://schemas.microsoft.com/office/drawing/2014/main" val="4260396907"/>
                    </a:ext>
                  </a:extLst>
                </a:gridCol>
                <a:gridCol w="1149470">
                  <a:extLst>
                    <a:ext uri="{9D8B030D-6E8A-4147-A177-3AD203B41FA5}">
                      <a16:colId xmlns:a16="http://schemas.microsoft.com/office/drawing/2014/main" val="2363811907"/>
                    </a:ext>
                  </a:extLst>
                </a:gridCol>
              </a:tblGrid>
              <a:tr h="105595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Trial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Camera A Success (%) 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Camera B Success (%)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Both Cameras Success (%)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51809863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96.21%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81.43%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77.65%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00148831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96.28%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90.50%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87.19%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10436901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90.82%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96.07%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87.87%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7286895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97.04%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89.49%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86.52%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8023545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97.31%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78.74%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83.06%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45568394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Average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95.53%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87.25%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84.46%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343029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A1311D-67D2-812E-2A11-EC6BAFB88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10688"/>
              </p:ext>
            </p:extLst>
          </p:nvPr>
        </p:nvGraphicFramePr>
        <p:xfrm>
          <a:off x="5835767" y="3215788"/>
          <a:ext cx="6047120" cy="2956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1588">
                  <a:extLst>
                    <a:ext uri="{9D8B030D-6E8A-4147-A177-3AD203B41FA5}">
                      <a16:colId xmlns:a16="http://schemas.microsoft.com/office/drawing/2014/main" val="2314234979"/>
                    </a:ext>
                  </a:extLst>
                </a:gridCol>
                <a:gridCol w="984707">
                  <a:extLst>
                    <a:ext uri="{9D8B030D-6E8A-4147-A177-3AD203B41FA5}">
                      <a16:colId xmlns:a16="http://schemas.microsoft.com/office/drawing/2014/main" val="4154374581"/>
                    </a:ext>
                  </a:extLst>
                </a:gridCol>
                <a:gridCol w="1401316">
                  <a:extLst>
                    <a:ext uri="{9D8B030D-6E8A-4147-A177-3AD203B41FA5}">
                      <a16:colId xmlns:a16="http://schemas.microsoft.com/office/drawing/2014/main" val="8177218"/>
                    </a:ext>
                  </a:extLst>
                </a:gridCol>
                <a:gridCol w="1451813">
                  <a:extLst>
                    <a:ext uri="{9D8B030D-6E8A-4147-A177-3AD203B41FA5}">
                      <a16:colId xmlns:a16="http://schemas.microsoft.com/office/drawing/2014/main" val="1836655011"/>
                    </a:ext>
                  </a:extLst>
                </a:gridCol>
                <a:gridCol w="1287696">
                  <a:extLst>
                    <a:ext uri="{9D8B030D-6E8A-4147-A177-3AD203B41FA5}">
                      <a16:colId xmlns:a16="http://schemas.microsoft.com/office/drawing/2014/main" val="1948631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Trial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Tracking Losses  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Reacquisition Opportunities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Successful Reacquisitions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Mean Reacquisition  Time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0953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5.305s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2526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1.996s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68275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2.451s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57840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1.626s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38259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1.968s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94318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77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ED16-4FDC-1D3D-E381-2F77E2AF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1C0D77-5F4B-B80B-075B-63D7E0235CB2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ookman Old Style" panose="02050604050505020204" pitchFamily="18" charset="0"/>
              </a:rPr>
              <a:t>R&amp;D: </a:t>
            </a:r>
            <a:r>
              <a:rPr lang="en-US" sz="2400" dirty="0">
                <a:latin typeface="Bookman Old Style" panose="02050604050505020204" pitchFamily="18" charset="0"/>
              </a:rPr>
              <a:t>Estimated and Actual Distance of the Designated Object Relative to the Targe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4F4F6A-AF95-6C9D-8B80-A6F1775CC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20390"/>
              </p:ext>
            </p:extLst>
          </p:nvPr>
        </p:nvGraphicFramePr>
        <p:xfrm>
          <a:off x="1101289" y="1173225"/>
          <a:ext cx="6006875" cy="5192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375">
                  <a:extLst>
                    <a:ext uri="{9D8B030D-6E8A-4147-A177-3AD203B41FA5}">
                      <a16:colId xmlns:a16="http://schemas.microsoft.com/office/drawing/2014/main" val="1616510927"/>
                    </a:ext>
                  </a:extLst>
                </a:gridCol>
                <a:gridCol w="1201375">
                  <a:extLst>
                    <a:ext uri="{9D8B030D-6E8A-4147-A177-3AD203B41FA5}">
                      <a16:colId xmlns:a16="http://schemas.microsoft.com/office/drawing/2014/main" val="3881947309"/>
                    </a:ext>
                  </a:extLst>
                </a:gridCol>
                <a:gridCol w="1201375">
                  <a:extLst>
                    <a:ext uri="{9D8B030D-6E8A-4147-A177-3AD203B41FA5}">
                      <a16:colId xmlns:a16="http://schemas.microsoft.com/office/drawing/2014/main" val="2327212041"/>
                    </a:ext>
                  </a:extLst>
                </a:gridCol>
                <a:gridCol w="1201375">
                  <a:extLst>
                    <a:ext uri="{9D8B030D-6E8A-4147-A177-3AD203B41FA5}">
                      <a16:colId xmlns:a16="http://schemas.microsoft.com/office/drawing/2014/main" val="645153700"/>
                    </a:ext>
                  </a:extLst>
                </a:gridCol>
                <a:gridCol w="1201375">
                  <a:extLst>
                    <a:ext uri="{9D8B030D-6E8A-4147-A177-3AD203B41FA5}">
                      <a16:colId xmlns:a16="http://schemas.microsoft.com/office/drawing/2014/main" val="1217410823"/>
                    </a:ext>
                  </a:extLst>
                </a:gridCol>
              </a:tblGrid>
              <a:tr h="11796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Test Point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Actual Distance to Target (m)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Estimated Distance to Target (m)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Absolute Error (m)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Percentage Error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9901165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25.00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24.63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0.37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1.49%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23129352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21.37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21.84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0.47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2.20%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68022183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20.59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21.92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1.33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6.47%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97455085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20.59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21.92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1.33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6.47%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81389884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T5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19.41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20.23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0.82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4.22%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57695883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T6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15.65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16.67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1.02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6.52%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41419414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15.23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16.67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1.44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9.46%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62826810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T8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14.00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16.11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2.11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15.05%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09463211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T9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9.43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11.51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2.08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22.05%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41518348"/>
                  </a:ext>
                </a:extLst>
              </a:tr>
              <a:tr h="386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8.17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9.13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0.96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11.73%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0484751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45CD674-11C9-FF55-C2F7-7A934028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349" y="1173225"/>
            <a:ext cx="4586706" cy="254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4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45D7-1BA7-4E62-8B70-4D18F7E1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136D74-20A1-7B87-10DD-0E63C4539281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Bookman Old Style" panose="02050604050505020204" pitchFamily="18" charset="0"/>
              </a:rPr>
              <a:t>R&amp;D: </a:t>
            </a:r>
            <a:r>
              <a:rPr lang="en-US" sz="2400" dirty="0">
                <a:latin typeface="Bookman Old Style" panose="02050604050505020204" pitchFamily="18" charset="0"/>
              </a:rPr>
              <a:t>Computational Guidance Performance 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A3FDA6-89AF-78E7-3D6B-8DBD14E2E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35445"/>
              </p:ext>
            </p:extLst>
          </p:nvPr>
        </p:nvGraphicFramePr>
        <p:xfrm>
          <a:off x="1315340" y="1422400"/>
          <a:ext cx="5731192" cy="200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2798">
                  <a:extLst>
                    <a:ext uri="{9D8B030D-6E8A-4147-A177-3AD203B41FA5}">
                      <a16:colId xmlns:a16="http://schemas.microsoft.com/office/drawing/2014/main" val="2504045998"/>
                    </a:ext>
                  </a:extLst>
                </a:gridCol>
                <a:gridCol w="1432798">
                  <a:extLst>
                    <a:ext uri="{9D8B030D-6E8A-4147-A177-3AD203B41FA5}">
                      <a16:colId xmlns:a16="http://schemas.microsoft.com/office/drawing/2014/main" val="3390995662"/>
                    </a:ext>
                  </a:extLst>
                </a:gridCol>
                <a:gridCol w="1432798">
                  <a:extLst>
                    <a:ext uri="{9D8B030D-6E8A-4147-A177-3AD203B41FA5}">
                      <a16:colId xmlns:a16="http://schemas.microsoft.com/office/drawing/2014/main" val="62088000"/>
                    </a:ext>
                  </a:extLst>
                </a:gridCol>
                <a:gridCol w="1432798">
                  <a:extLst>
                    <a:ext uri="{9D8B030D-6E8A-4147-A177-3AD203B41FA5}">
                      <a16:colId xmlns:a16="http://schemas.microsoft.com/office/drawing/2014/main" val="2248211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Guidance 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Tests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Correct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Accuracy (%) 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8748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FORWARD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100%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55473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LEFT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100%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5976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RIGHT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100%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17226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STOP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70%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1041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27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5734-BE62-742B-10E5-1B703723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5C34E7-44BE-6BF0-AAE7-D5AF226C5442}"/>
              </a:ext>
            </a:extLst>
          </p:cNvPr>
          <p:cNvSpPr txBox="1">
            <a:spLocks/>
          </p:cNvSpPr>
          <p:nvPr/>
        </p:nvSpPr>
        <p:spPr>
          <a:xfrm>
            <a:off x="582930" y="447295"/>
            <a:ext cx="8413516" cy="8798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600" b="1" dirty="0">
                <a:latin typeface="Bookman Old Style" panose="02050604050505020204" pitchFamily="18" charset="0"/>
              </a:rPr>
              <a:t>Conclusion</a:t>
            </a:r>
            <a:endParaRPr lang="en-US" sz="3600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FBEE9-BDEB-B9A0-2361-E044124AFB99}"/>
              </a:ext>
            </a:extLst>
          </p:cNvPr>
          <p:cNvSpPr txBox="1"/>
          <p:nvPr/>
        </p:nvSpPr>
        <p:spPr>
          <a:xfrm>
            <a:off x="899303" y="1327150"/>
            <a:ext cx="684721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Bookman Old Style" panose="02050604050505020204" pitchFamily="18" charset="0"/>
              </a:rPr>
              <a:t>AERESCUE successfully integrated dual-camera localization, object tracking, relative-distance estimation, and computational guidance.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Bookman Old Style" panose="02050604050505020204" pitchFamily="18" charset="0"/>
              </a:rPr>
              <a:t>The system achieved </a:t>
            </a:r>
            <a:r>
              <a:rPr lang="en-US" sz="2200" b="1" dirty="0">
                <a:latin typeface="Bookman Old Style" panose="02050604050505020204" pitchFamily="18" charset="0"/>
              </a:rPr>
              <a:t>84.46% simultaneous tracking</a:t>
            </a:r>
            <a:r>
              <a:rPr lang="en-US" sz="2200" dirty="0">
                <a:latin typeface="Bookman Old Style" panose="02050604050505020204" pitchFamily="18" charset="0"/>
              </a:rPr>
              <a:t>, </a:t>
            </a:r>
            <a:r>
              <a:rPr lang="en-US" sz="2200" b="1" dirty="0">
                <a:latin typeface="Bookman Old Style" panose="02050604050505020204" pitchFamily="18" charset="0"/>
              </a:rPr>
              <a:t>100% reacquisition success</a:t>
            </a:r>
            <a:r>
              <a:rPr lang="en-US" sz="2200" dirty="0">
                <a:latin typeface="Bookman Old Style" panose="02050604050505020204" pitchFamily="18" charset="0"/>
              </a:rPr>
              <a:t>, and </a:t>
            </a:r>
            <a:r>
              <a:rPr lang="en-US" sz="2200" b="1" dirty="0">
                <a:latin typeface="Bookman Old Style" panose="02050604050505020204" pitchFamily="18" charset="0"/>
              </a:rPr>
              <a:t>92.5% guidance accuracy</a:t>
            </a:r>
            <a:r>
              <a:rPr lang="en-US" sz="2200" dirty="0">
                <a:latin typeface="Bookman Old Style" panose="020506040505050202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Bookman Old Style" panose="02050604050505020204" pitchFamily="18" charset="0"/>
              </a:rPr>
              <a:t>Localization performance was generally acceptable, but </a:t>
            </a:r>
            <a:r>
              <a:rPr lang="en-US" sz="2200" b="1" dirty="0">
                <a:latin typeface="Bookman Old Style" panose="02050604050505020204" pitchFamily="18" charset="0"/>
              </a:rPr>
              <a:t>relative-distance estimation remained the main limitation</a:t>
            </a:r>
            <a:r>
              <a:rPr lang="en-US" sz="2200" dirty="0">
                <a:latin typeface="Bookman Old Style" panose="020506040505050202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Bookman Old Style" panose="02050604050505020204" pitchFamily="18" charset="0"/>
              </a:rPr>
              <a:t>The study shows that AERESCUE is a viable </a:t>
            </a:r>
            <a:r>
              <a:rPr lang="en-US" sz="2200" b="1" dirty="0">
                <a:latin typeface="Bookman Old Style" panose="02050604050505020204" pitchFamily="18" charset="0"/>
              </a:rPr>
              <a:t>proof-of-concept rescue-support system</a:t>
            </a:r>
            <a:r>
              <a:rPr lang="en-US" sz="2200" dirty="0">
                <a:latin typeface="Bookman Old Style" panose="02050604050505020204" pitchFamily="18" charset="0"/>
              </a:rPr>
              <a:t> under controlled simulated conditions.</a:t>
            </a:r>
          </a:p>
        </p:txBody>
      </p:sp>
    </p:spTree>
    <p:extLst>
      <p:ext uri="{BB962C8B-B14F-4D97-AF65-F5344CB8AC3E}">
        <p14:creationId xmlns:p14="http://schemas.microsoft.com/office/powerpoint/2010/main" val="89779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560</Words>
  <Application>Microsoft Office PowerPoint</Application>
  <PresentationFormat>Widescreen</PresentationFormat>
  <Paragraphs>223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Elijah Juris Evangelista</cp:lastModifiedBy>
  <cp:revision>14</cp:revision>
  <dcterms:created xsi:type="dcterms:W3CDTF">2022-05-16T01:56:50Z</dcterms:created>
  <dcterms:modified xsi:type="dcterms:W3CDTF">2026-09-22T14:25:39Z</dcterms:modified>
</cp:coreProperties>
</file>